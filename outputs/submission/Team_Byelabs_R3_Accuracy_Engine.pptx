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Rows changed per rule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 changed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Conformal Org Consensus</c:v>
                  </c:pt>
                  <c:pt idx="1">
                    <c:v>Provider Signal Midscore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111</c:v>
                </c:pt>
                <c:pt idx="1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Calibri"/>
              </a:rPr>
              <a:t>Per-state corrected accuracy under Leave-One-State-Out CV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Corrected accuracy (LOSO)</c:v>
                </c:pt>
              </c:strCache>
            </c:strRef>
          </c:tx>
          <c:spPr>
            <a:solidFill>
              <a:srgbClr val="2563EB"/>
            </a:solidFill>
            <a:ln w="28575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TX</c:v>
                  </c:pt>
                  <c:pt idx="1">
                    <c:v>CA</c:v>
                  </c:pt>
                  <c:pt idx="2">
                    <c:v>FL</c:v>
                  </c:pt>
                  <c:pt idx="3">
                    <c:v>NY</c:v>
                  </c:pt>
                  <c:pt idx="4">
                    <c:v>PA</c:v>
                  </c:pt>
                  <c:pt idx="5">
                    <c:v>OH</c:v>
                  </c:pt>
                  <c:pt idx="6">
                    <c:v>IL</c:v>
                  </c:pt>
                  <c:pt idx="7">
                    <c:v>GA</c:v>
                  </c:pt>
                  <c:pt idx="8">
                    <c:v>NC</c:v>
                  </c:pt>
                  <c:pt idx="9">
                    <c:v>MI</c:v>
                  </c:pt>
                  <c:pt idx="10">
                    <c:v>AZ</c:v>
                  </c:pt>
                  <c:pt idx="11">
                    <c:v>WA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0.566</c:v>
                </c:pt>
                <c:pt idx="1">
                  <c:v>0.572</c:v>
                </c:pt>
                <c:pt idx="2">
                  <c:v>0.558</c:v>
                </c:pt>
                <c:pt idx="3">
                  <c:v>0.581</c:v>
                </c:pt>
                <c:pt idx="4">
                  <c:v>0.554</c:v>
                </c:pt>
                <c:pt idx="5">
                  <c:v>0.563</c:v>
                </c:pt>
                <c:pt idx="6">
                  <c:v>0.578</c:v>
                </c:pt>
                <c:pt idx="7">
                  <c:v>0.549</c:v>
                </c:pt>
                <c:pt idx="8">
                  <c:v>0.561</c:v>
                </c:pt>
                <c:pt idx="9">
                  <c:v>0.572</c:v>
                </c:pt>
                <c:pt idx="10">
                  <c:v>0.557</c:v>
                </c:pt>
                <c:pt idx="11">
                  <c:v>0.569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0.53 floor</c:v>
                </c:pt>
              </c:strCache>
            </c:strRef>
          </c:tx>
          <c:spPr>
            <a:solidFill>
              <a:srgbClr val="B91C1C"/>
            </a:solidFill>
            <a:ln w="28575" cap="flat">
              <a:solidFill>
                <a:srgbClr val="B91C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B91C1C"/>
              </a:solidFill>
              <a:ln w="9525" cap="flat">
                <a:solidFill>
                  <a:srgbClr val="B91C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TX</c:v>
                  </c:pt>
                  <c:pt idx="1">
                    <c:v>CA</c:v>
                  </c:pt>
                  <c:pt idx="2">
                    <c:v>FL</c:v>
                  </c:pt>
                  <c:pt idx="3">
                    <c:v>NY</c:v>
                  </c:pt>
                  <c:pt idx="4">
                    <c:v>PA</c:v>
                  </c:pt>
                  <c:pt idx="5">
                    <c:v>OH</c:v>
                  </c:pt>
                  <c:pt idx="6">
                    <c:v>IL</c:v>
                  </c:pt>
                  <c:pt idx="7">
                    <c:v>GA</c:v>
                  </c:pt>
                  <c:pt idx="8">
                    <c:v>NC</c:v>
                  </c:pt>
                  <c:pt idx="9">
                    <c:v>MI</c:v>
                  </c:pt>
                  <c:pt idx="10">
                    <c:v>AZ</c:v>
                  </c:pt>
                  <c:pt idx="11">
                    <c:v>WA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0.53</c:v>
                </c:pt>
                <c:pt idx="1">
                  <c:v>0.53</c:v>
                </c:pt>
                <c:pt idx="2">
                  <c:v>0.53</c:v>
                </c:pt>
                <c:pt idx="3">
                  <c:v>0.53</c:v>
                </c:pt>
                <c:pt idx="4">
                  <c:v>0.53</c:v>
                </c:pt>
                <c:pt idx="5">
                  <c:v>0.53</c:v>
                </c:pt>
                <c:pt idx="6">
                  <c:v>0.53</c:v>
                </c:pt>
                <c:pt idx="7">
                  <c:v>0.53</c:v>
                </c:pt>
                <c:pt idx="8">
                  <c:v>0.53</c:v>
                </c:pt>
                <c:pt idx="9">
                  <c:v>0.53</c:v>
                </c:pt>
                <c:pt idx="10">
                  <c:v>0.53</c:v>
                </c:pt>
                <c:pt idx="11">
                  <c:v>0.53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 HACKATHON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Provider Directory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Engine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09728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post-R3 layer that lifts directory accuracy from 50.62% to 61.82% with zero agreement-zone changes and a 95% conformal precision bound.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26060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+11.20 pp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93592" y="5212080"/>
            <a:ext cx="26060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3592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593592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Agreement-zone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64224" y="5212080"/>
            <a:ext cx="26060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64224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precision bound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34856" y="5212080"/>
            <a:ext cx="2606040" cy="96012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34856" y="5303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$142.76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34856" y="57607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 cost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R3's two baselines reveals the real accuracy gap.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directories drift constantly. R3 performs well overall, but its disagreements with Calling QC hide most of the lost accuracy. We focus on the Call-QC slice — the 50.62% — and close it without disturbing what already agrees.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5603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slice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overall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Web-verified slice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QC sample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Call-QC-verified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50.62%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we close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554480"/>
            <a:ext cx="4023360" cy="4297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783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constraints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55280" y="23317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zone preserved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0" y="25420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R3, Web QC, and Call QC concur are never relabeled.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955280" y="32461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3182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budget capped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4564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450 outbound calls across the entire dataset.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55280" y="41605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4096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conclusivity assumption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370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4-in-10 robocalls return a usable verdict; budget rationed accordingly.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955280" y="50749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0" y="5010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Call-QC leakage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52852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QC is used for training and evaluation only — never as an inference feature.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on top of R3 — we never replace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99427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208483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1792" y="23317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+ Claims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78892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workbook + streamed claims; 60+ engineered features.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93203" y="2766060"/>
            <a:ext cx="2468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76667" y="1920240"/>
            <a:ext cx="1999427" cy="169164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76667" y="1920240"/>
            <a:ext cx="1999427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941259" y="208483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41259" y="23317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Discovery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41259" y="278892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Six-archetype disagreement taxonomy and confusion analytics.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12670" y="2766060"/>
            <a:ext cx="2468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96134" y="1920240"/>
            <a:ext cx="1999427" cy="169164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6134" y="1920240"/>
            <a:ext cx="1999427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260726" y="208483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60726" y="23317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Passive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60726" y="278892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Conformal-bounded label flips with zero marginal cost.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137" y="2766060"/>
            <a:ext cx="2468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15601" y="1920240"/>
            <a:ext cx="1999427" cy="1691640"/>
          </a:xfrm>
          <a:prstGeom prst="rect">
            <a:avLst/>
          </a:prstGeom>
          <a:solidFill>
            <a:srgbClr val="F8FAFC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601" y="1920240"/>
            <a:ext cx="1999427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0193" y="208483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80193" y="23317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Triage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0193" y="278892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ranker selects ≤ 450 robocalls for active QC.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451604" y="2766060"/>
            <a:ext cx="246888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35068" y="1920240"/>
            <a:ext cx="1999427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99660" y="2084832"/>
            <a:ext cx="16702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899660" y="233172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99660" y="2788920"/>
            <a:ext cx="1670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predictions.csv + needs_active_review + audit logs.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11277295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row-count agnostic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48006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dataset is 2,493 rows. Every component honours an eval_set_flag at runtime, so the same pipeline runs on a holdout of any size — no hard-coded counts, no slicing assumptions.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5486400"/>
            <a:ext cx="2267712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8640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eval_set_flag honoured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63824" y="5486400"/>
            <a:ext cx="2432304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63824" y="54864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1/2/3 reproducible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60720" y="5486400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54864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QC never an input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— DISCOVERY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six-archetype taxonomy explains where R3 and Calling QC diverge.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2,493 rows, 1,231 disagree between R3 and Calling QC. We bucket every disagreement into one of six archetypes; the four largest drive 80% of recoverable accuracy.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097280"/>
                <a:gridCol w="6309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INACCURATE — no reliable web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Conformal Org Consensus flip when org records and claims state agree; otherwise hold for Track 3.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Mid-score ambiguity (0.45–0.65)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Signal Midscore Flip — fires only when claims are recent and telehealth risk is low.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Large-org multi-location confusion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by org_record_count and dominant_claim_share; route to Track 3 with high business gain.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health telehealth floater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robocall — conclusivity well below 40%. Hold for registry lookup downstream.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ACCURATE — stale org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via keep_r3_triage_candidate; not relabeled until Track 3 verdict arrives.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disagreement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Logged for manual audit; never auto-flipped.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vs Web QC agreement: 79.86%   |   R3 vs Call QC agreement: 50.62%   |   Disagreement rows analysed: 1,231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— PASSIVE CORRECTION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narrow flips, conformally bounded, zero marginal cost.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463040"/>
            <a:ext cx="4754880" cy="1280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lift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7804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50.62% → 55.76%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7804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+5.13 pp net gain (grouped CV)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49440" y="2834640"/>
            <a:ext cx="23317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corrected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13232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9372600" y="2834640"/>
            <a:ext cx="2331720" cy="10058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554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precision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555480" y="3154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6949440" y="3931920"/>
            <a:ext cx="4754880" cy="118872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4023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Agreement-zone violations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78040" y="4251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138160" y="4434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Hard-asserted at write time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5349240"/>
            <a:ext cx="11155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5349240"/>
            <a:ext cx="109728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5440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precision guard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8680" y="57150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CV fold a threshold q-hat is derived from nonconformity scores; a flip only fires when its score is at most q-hat — guaranteeing a distribution-free 95% precision bound on the changed rows.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— ROBOCALL TRIAGE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conformal-bounded LightGBM ranker spends the call budget where it pays.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ISSUED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auto-capped at uncertain-pool size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USABLE VERDICTS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3017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40% conclusivity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2560320" cy="2057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ACCURACY GAIN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+6.06 pp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to Track 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703320"/>
            <a:ext cx="2560320" cy="2057400"/>
          </a:xfrm>
          <a:prstGeom prst="rect">
            <a:avLst/>
          </a:prstGeom>
          <a:solidFill>
            <a:srgbClr val="DCFCE7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T2 + T3 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4160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61.82%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474720" y="5257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50.62% baseline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14630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SHAP features driving the ranker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783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|SHAP| over the validation fold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194560"/>
          <a:ext cx="5577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|SHAP|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Tier-3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PF Address Accurate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126480" y="4846320"/>
            <a:ext cx="5577840" cy="9144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09360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score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309360" y="5212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p_r3_wrong  ×  p_conclusive_rank  ×  business_gain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+11.20 pp accuracy at $12.74 per percentage point.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(existing)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2,493 × $0.035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2 — passive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marginal cost on top of R3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3 — robocalls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 calls × $0.50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$142.76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Byelabs 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full manual QC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$12,465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2,493 × $5.00 — 98.9% cheaper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474720" cy="4206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3"/>
          <p:cNvSpPr/>
          <p:nvPr/>
        </p:nvSpPr>
        <p:spPr>
          <a:xfrm>
            <a:off x="850392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03920" y="2194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$12.74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850392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percentage point of accuracy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03920" y="3886200"/>
            <a:ext cx="2926080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0392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cheaper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03920" y="4572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full manual Calling QC at the same coverage.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03920" y="5257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$0.057 per row, end to end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120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are amortised across the full 2,493-row dataset. Track 2 reuses R3 outputs and engineered features at no incremental compute cost; Track 3 uses the call budget only when conformal uncertainty is high.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&amp; HOLDOUT SAFETY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guarantees that hold on data we have not yet seen.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76218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576218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73352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calibration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 95% precision bound on every label flip — the bound transfers to a holdout by construction, not by hope.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07738" y="1508760"/>
            <a:ext cx="3576218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07738" y="1508760"/>
            <a:ext cx="3576218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490618" y="1673352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90618" y="1920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Leave-One-State-Out CV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0618" y="228600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refit on N-1 states and evaluate on the held-out state. No state collapses below the 53% accuracy floor.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66837" y="1508760"/>
            <a:ext cx="3576218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6837" y="1508760"/>
            <a:ext cx="3576218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8249717" y="1673352"/>
            <a:ext cx="3210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49717" y="1920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needs_active_review audited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49717" y="2286000"/>
            <a:ext cx="32104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only from signal features and models trained on Calling QC. No Call-QC value is ever an inference feature.</a:t>
            </a:r>
            <a:endParaRPr lang="en-US" sz="10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3291840"/>
          <a:ext cx="11094415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READINESS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gate the judges asked for — green.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27168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15888" y="15544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28655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/ 2 / 3 outputs reproducible end-to-end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90008" y="21214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90008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5146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row-count agnostic (eval_set_flag honoured)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90008" y="25786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0008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718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zone preserved (hard assert at write time)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90008" y="30358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0008" y="3035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4290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Robocall budget at most 450 (hard assert)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90008" y="34930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0008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8862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Conformal 95% precision bound on every flip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90008" y="39502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0008" y="3950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33008" y="20574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15888" y="20574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needs_active_review derivation non-leaking (audited)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0774375" y="21214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74375" y="21214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15888" y="25146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IAM-role-aware (entrypoint.sh assumes role)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774375" y="25786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74375" y="25786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33008" y="29718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Text 33"/>
          <p:cNvSpPr/>
          <p:nvPr/>
        </p:nvSpPr>
        <p:spPr>
          <a:xfrm>
            <a:off x="6415888" y="29718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endpoint returns the judge-spec schema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774375" y="30358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74375" y="30358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15888" y="34290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cross-validation script ships and passes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774375" y="34930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74375" y="34930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3008" y="3886200"/>
            <a:ext cx="5410048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2" name="Text 40"/>
          <p:cNvSpPr/>
          <p:nvPr/>
        </p:nvSpPr>
        <p:spPr>
          <a:xfrm>
            <a:off x="6415888" y="3886200"/>
            <a:ext cx="440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HIPAA-adjacent anonymisation note in README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774375" y="3950208"/>
            <a:ext cx="731520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774375" y="395020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5989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gates are asserted automatically by the submission script before the predictions.csv is emitted. A single failed assert blocks the write.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HILABS HACKATHON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730088" y="2606040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328" y="310896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0928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0928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zone preserved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0928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violations. Hard-asserted on every write.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49928" y="310896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78528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78528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98.9% cheaper than manual QC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78528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+11.20 pp accuracy for $142.76 total run cost.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7528" y="3108960"/>
            <a:ext cx="32918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6128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6128" y="36118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precision — by construction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6128" y="4023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Distribution-free conformal bound on every flip.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937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Byelabs   | 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Team Byelabs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R3 Provider Directory Accuracy Engine</dc:title>
  <dc:subject>PptxGenJS Presentation</dc:subject>
  <dc:creator>Team Byelabs</dc:creator>
  <cp:lastModifiedBy>Team Byelabs</cp:lastModifiedBy>
  <cp:revision>1</cp:revision>
  <dcterms:created xsi:type="dcterms:W3CDTF">2026-04-29T22:14:28Z</dcterms:created>
  <dcterms:modified xsi:type="dcterms:W3CDTF">2026-04-29T22:14:28Z</dcterms:modified>
</cp:coreProperties>
</file>